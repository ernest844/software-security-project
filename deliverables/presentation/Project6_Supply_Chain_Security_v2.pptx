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6" id="{811cd0f5-76c3-c088-6a87-1f45f4653a5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Share of future-attacked flaws found in the top 5% of the list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in top 5%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75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9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C7C5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</c:v>
                  </c:pt>
                  <c:pt idx="1">
                    <c:v>CVSS, exploit-code label</c:v>
                  </c:pt>
                  <c:pt idx="2">
                    <c:v>CVSS, KEV label</c:v>
                  </c:pt>
                  <c:pt idx="3">
                    <c:v>Exploit-code rule, KEV label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</c:v>
                </c:pt>
                <c:pt idx="1">
                  <c:v>0.116</c:v>
                </c:pt>
                <c:pt idx="2">
                  <c:v>0.299</c:v>
                </c:pt>
                <c:pt idx="3">
                  <c:v>0.818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Intelligent Software Supply-Chain Security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Ranking risky third-party libraries by how likely they are to be attacked</a:t>
            </a:r>
            <a:endParaRPr lang="en-US" sz="2000" dirty="0"/>
          </a:p>
        </p:txBody>
      </p:sp>
      <p:sp>
        <p:nvSpPr>
          <p:cNvPr id="4" name="Course line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</a:rPr>
              <a:t>Progress report: Activities 1-4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</a:rPr>
              <a:t>UTAMU MSc Computer Science (Computer Security) | S26.CSC 7203 Security of Software | Ernesto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Scanners find everything; teams need to know what to fix first</a:t>
            </a:r>
            <a:endParaRPr lang="en-US" sz="2800" dirty="0"/>
          </a:p>
        </p:txBody>
      </p:sp>
      <p:sp>
        <p:nvSpPr>
          <p:cNvPr id="3" name="Scale card"/>
          <p:cNvSpPr/>
          <p:nvPr/>
        </p:nvSpPr>
        <p:spPr>
          <a:xfrm>
            <a:off x="548640" y="1143000"/>
            <a:ext cx="251460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ale number"/>
          <p:cNvSpPr txBox="1"/>
          <p:nvPr/>
        </p:nvSpPr>
        <p:spPr>
          <a:xfrm>
            <a:off x="685800" y="1234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23,827</a:t>
            </a:r>
            <a:endParaRPr lang="en-US" sz="3000" dirty="0"/>
          </a:p>
        </p:txBody>
      </p:sp>
      <p:sp>
        <p:nvSpPr>
          <p:cNvPr id="5" name="Scale text"/>
          <p:cNvSpPr txBox="1"/>
          <p:nvPr/>
        </p:nvSpPr>
        <p:spPr>
          <a:xfrm>
            <a:off x="68580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libraries scanned in 15 public projects gave 374 findings</a:t>
            </a:r>
            <a:endParaRPr lang="en-US" sz="1400" dirty="0"/>
          </a:p>
        </p:txBody>
      </p:sp>
      <p:sp>
        <p:nvSpPr>
          <p:cNvPr id="6" name="Indirect card"/>
          <p:cNvSpPr/>
          <p:nvPr/>
        </p:nvSpPr>
        <p:spPr>
          <a:xfrm>
            <a:off x="3291840" y="1143000"/>
            <a:ext cx="251460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ndirect number"/>
          <p:cNvSpPr txBox="1"/>
          <p:nvPr/>
        </p:nvSpPr>
        <p:spPr>
          <a:xfrm>
            <a:off x="3429000" y="1234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93.9%</a:t>
            </a:r>
            <a:endParaRPr lang="en-US" sz="3000" dirty="0"/>
          </a:p>
        </p:txBody>
      </p:sp>
      <p:sp>
        <p:nvSpPr>
          <p:cNvPr id="8" name="Indirect text"/>
          <p:cNvSpPr txBox="1"/>
          <p:nvPr/>
        </p:nvSpPr>
        <p:spPr>
          <a:xfrm>
            <a:off x="342900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findings are in indirect libraries nobody chose directly</a:t>
            </a:r>
            <a:endParaRPr lang="en-US" sz="1400" dirty="0"/>
          </a:p>
        </p:txBody>
      </p:sp>
      <p:sp>
        <p:nvSpPr>
          <p:cNvPr id="9" name="KEV card"/>
          <p:cNvSpPr/>
          <p:nvPr/>
        </p:nvSpPr>
        <p:spPr>
          <a:xfrm>
            <a:off x="6035040" y="1143000"/>
            <a:ext cx="251460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V number"/>
          <p:cNvSpPr txBox="1"/>
          <p:nvPr/>
        </p:nvSpPr>
        <p:spPr>
          <a:xfrm>
            <a:off x="6172200" y="1234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135 of 1,739</a:t>
            </a:r>
            <a:endParaRPr lang="en-US" sz="3000" dirty="0"/>
          </a:p>
        </p:txBody>
      </p:sp>
      <p:sp>
        <p:nvSpPr>
          <p:cNvPr id="11" name="KEV text"/>
          <p:cNvSpPr txBox="1"/>
          <p:nvPr/>
        </p:nvSpPr>
        <p:spPr>
          <a:xfrm>
            <a:off x="617220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known-exploited flaws are in libraries, so proof of real attacks is rare</a:t>
            </a:r>
            <a:endParaRPr lang="en-US" sz="1400" dirty="0"/>
          </a:p>
        </p:txBody>
      </p:sp>
      <p:sp>
        <p:nvSpPr>
          <p:cNvPr id="12" name="Gap statement"/>
          <p:cNvSpPr txBox="1"/>
          <p:nvPr/>
        </p:nvSpPr>
        <p:spPr>
          <a:xfrm>
            <a:off x="548640" y="3063240"/>
            <a:ext cx="8001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gap: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severity score does not tell us how likely an attack is. No paper we reviewed combines library position, library health and attack evidence, tested on future data.</a:t>
            </a:r>
            <a:endParaRPr lang="en-US" sz="1600" dirty="0"/>
          </a:p>
        </p:txBody>
      </p:sp>
      <p:sp>
        <p:nvSpPr>
          <p:cNvPr id="13" name="Terms footnote"/>
          <p:cNvSpPr txBox="1"/>
          <p:nvPr/>
        </p:nvSpPr>
        <p:spPr>
          <a:xfrm>
            <a:off x="54864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Terms: CVE = Common Vulnerabilities and Exposures (a flaw ID). CVSS = Common Vulnerability Scoring System (severity 0-10). KEV = Known Exploited Vulnerabilities list, kept by CISA (US Cybersecurity and Infrastructure Security Agency).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research questions</a:t>
            </a:r>
            <a:endParaRPr lang="en-US" sz="2800" dirty="0"/>
          </a:p>
        </p:txBody>
      </p:sp>
      <p:sp>
        <p:nvSpPr>
          <p:cNvPr id="3" name="RQ1 chip"/>
          <p:cNvSpPr/>
          <p:nvPr/>
        </p:nvSpPr>
        <p:spPr>
          <a:xfrm>
            <a:off x="548640" y="1188720"/>
            <a:ext cx="8229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Q1 label"/>
          <p:cNvSpPr txBox="1"/>
          <p:nvPr/>
        </p:nvSpPr>
        <p:spPr>
          <a:xfrm>
            <a:off x="548640" y="11887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RQ1</a:t>
            </a:r>
            <a:endParaRPr lang="en-US" sz="1600" dirty="0"/>
          </a:p>
        </p:txBody>
      </p:sp>
      <p:sp>
        <p:nvSpPr>
          <p:cNvPr id="5" name="RQ1 text"/>
          <p:cNvSpPr txBox="1"/>
          <p:nvPr/>
        </p:nvSpPr>
        <p:spPr>
          <a:xfrm>
            <a:off x="1554480" y="11887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Does attack evidence (EPSS score, public exploit code) rank risk better than CVSS alone?</a:t>
            </a:r>
            <a:endParaRPr lang="en-US" sz="1700" dirty="0"/>
          </a:p>
        </p:txBody>
      </p:sp>
      <p:sp>
        <p:nvSpPr>
          <p:cNvPr id="6" name="RQ2 chip"/>
          <p:cNvSpPr/>
          <p:nvPr/>
        </p:nvSpPr>
        <p:spPr>
          <a:xfrm>
            <a:off x="548640" y="1965960"/>
            <a:ext cx="8229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Q2 label"/>
          <p:cNvSpPr txBox="1"/>
          <p:nvPr/>
        </p:nvSpPr>
        <p:spPr>
          <a:xfrm>
            <a:off x="548640" y="1965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RQ2</a:t>
            </a:r>
            <a:endParaRPr lang="en-US" sz="1600" dirty="0"/>
          </a:p>
        </p:txBody>
      </p:sp>
      <p:sp>
        <p:nvSpPr>
          <p:cNvPr id="8" name="RQ2 text"/>
          <p:cNvSpPr txBox="1"/>
          <p:nvPr/>
        </p:nvSpPr>
        <p:spPr>
          <a:xfrm>
            <a:off x="1554480" y="19659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 learned models beat simple rules on future data?</a:t>
            </a:r>
            <a:endParaRPr lang="en-US" sz="1700" dirty="0"/>
          </a:p>
        </p:txBody>
      </p:sp>
      <p:sp>
        <p:nvSpPr>
          <p:cNvPr id="9" name="RQ3 chip"/>
          <p:cNvSpPr/>
          <p:nvPr/>
        </p:nvSpPr>
        <p:spPr>
          <a:xfrm>
            <a:off x="548640" y="2743200"/>
            <a:ext cx="8229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Q3 label"/>
          <p:cNvSpPr txBox="1"/>
          <p:nvPr/>
        </p:nvSpPr>
        <p:spPr>
          <a:xfrm>
            <a:off x="548640" y="2743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RQ3</a:t>
            </a:r>
            <a:endParaRPr lang="en-US" sz="1600" dirty="0"/>
          </a:p>
        </p:txBody>
      </p:sp>
      <p:sp>
        <p:nvSpPr>
          <p:cNvPr id="11" name="RQ3 text"/>
          <p:cNvSpPr txBox="1"/>
          <p:nvPr/>
        </p:nvSpPr>
        <p:spPr>
          <a:xfrm>
            <a:off x="1554480" y="27432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 a library's position and health help rank findings?</a:t>
            </a:r>
            <a:endParaRPr lang="en-US" sz="1700" dirty="0"/>
          </a:p>
        </p:txBody>
      </p:sp>
      <p:sp>
        <p:nvSpPr>
          <p:cNvPr id="12" name="RQ4 chip"/>
          <p:cNvSpPr/>
          <p:nvPr/>
        </p:nvSpPr>
        <p:spPr>
          <a:xfrm>
            <a:off x="548640" y="3520440"/>
            <a:ext cx="8229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RQ4 label"/>
          <p:cNvSpPr txBox="1"/>
          <p:nvPr/>
        </p:nvSpPr>
        <p:spPr>
          <a:xfrm>
            <a:off x="548640" y="35204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RQ4</a:t>
            </a:r>
            <a:endParaRPr lang="en-US" sz="1600" dirty="0"/>
          </a:p>
        </p:txBody>
      </p:sp>
      <p:sp>
        <p:nvSpPr>
          <p:cNvPr id="14" name="RQ4 text"/>
          <p:cNvSpPr txBox="1"/>
          <p:nvPr/>
        </p:nvSpPr>
        <p:spPr>
          <a:xfrm>
            <a:off x="1554480" y="35204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Can the scores be trusted and explained enough to decide an action?</a:t>
            </a:r>
            <a:endParaRPr lang="en-US" sz="1700" dirty="0"/>
          </a:p>
        </p:txBody>
      </p:sp>
      <p:sp>
        <p:nvSpPr>
          <p:cNvPr id="15" name="Terms footnote"/>
          <p:cNvSpPr txBox="1"/>
          <p:nvPr/>
        </p:nvSpPr>
        <p:spPr>
          <a:xfrm>
            <a:off x="54864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EPSS = Exploit Prediction Scoring System (chance a flaw is attacked within 12 months).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Literature review: what earlier research tells us</a:t>
            </a:r>
            <a:endParaRPr lang="en-US" sz="28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Theme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shows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papers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Risk is mostly indirect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Flaws spread through chains of libraries; a few packages and maintainers reach much of npm.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Decan 2018; Zimmermann 2019; Zerouali 2022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Raw counts overstate risk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Many reported flaws do not matter in practice; most are fixed by updating.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Pashchenko 2018, 2020; Ponta 2020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Severity is not attack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EPSS estimates how likely a flaw is to be attacked, separate from severity.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Jacobs 2021, 2023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SBOMs and attacks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A Software Bill of Materials (SBOM) lists what is inside software; 107 attack routes are catalogued.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Xia 2023; Ladisa 2023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Testing pitfalls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Testing machine learning without respecting time inflates results, so we test on future data.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Arp 2022; Pendlebury 2019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rms footnote"/>
          <p:cNvSpPr txBox="1"/>
          <p:nvPr/>
        </p:nvSpPr>
        <p:spPr>
          <a:xfrm>
            <a:off x="54864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We reviewed 20 papers; the full list is in the literature matrix.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architecture: how the data flows</a:t>
            </a:r>
            <a:endParaRPr lang="en-US" sz="2800" dirty="0"/>
          </a:p>
        </p:txBody>
      </p:sp>
      <p:sp>
        <p:nvSpPr>
          <p:cNvPr id="3" name="Col1 head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4" name="Col2 head"/>
          <p:cNvSpPr txBox="1"/>
          <p:nvPr/>
        </p:nvSpPr>
        <p:spPr>
          <a:xfrm>
            <a:off x="34290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Pipeline</a:t>
            </a:r>
            <a:endParaRPr lang="en-US" sz="1400" dirty="0"/>
          </a:p>
        </p:txBody>
      </p:sp>
      <p:sp>
        <p:nvSpPr>
          <p:cNvPr id="5" name="Col3 head"/>
          <p:cNvSpPr txBox="1"/>
          <p:nvPr/>
        </p:nvSpPr>
        <p:spPr>
          <a:xfrm>
            <a:off x="649224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Outputs</a:t>
            </a:r>
            <a:endParaRPr lang="en-US" sz="1400" dirty="0"/>
          </a:p>
        </p:txBody>
      </p:sp>
      <p:sp>
        <p:nvSpPr>
          <p:cNvPr id="6" name="Source 1"/>
          <p:cNvSpPr/>
          <p:nvPr/>
        </p:nvSpPr>
        <p:spPr>
          <a:xfrm>
            <a:off x="457200" y="1325880"/>
            <a:ext cx="2286000" cy="566928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7" name="Source 1 text"/>
          <p:cNvSpPr txBox="1"/>
          <p:nvPr/>
        </p:nvSpPr>
        <p:spPr>
          <a:xfrm>
            <a:off x="457200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Lockfiles from 15 public projects</a:t>
            </a:r>
            <a:endParaRPr lang="en-US" sz="1200" dirty="0"/>
          </a:p>
        </p:txBody>
      </p:sp>
      <p:sp>
        <p:nvSpPr>
          <p:cNvPr id="8" name="Source 2"/>
          <p:cNvSpPr/>
          <p:nvPr/>
        </p:nvSpPr>
        <p:spPr>
          <a:xfrm>
            <a:off x="457200" y="2057400"/>
            <a:ext cx="2286000" cy="566928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9" name="Source 2 text"/>
          <p:cNvSpPr txBox="1"/>
          <p:nvPr/>
        </p:nvSpPr>
        <p:spPr>
          <a:xfrm>
            <a:off x="45720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Advisory database (GitHub, OSV format)</a:t>
            </a:r>
            <a:endParaRPr lang="en-US" sz="1200" dirty="0"/>
          </a:p>
        </p:txBody>
      </p:sp>
      <p:sp>
        <p:nvSpPr>
          <p:cNvPr id="10" name="Source 3"/>
          <p:cNvSpPr/>
          <p:nvPr/>
        </p:nvSpPr>
        <p:spPr>
          <a:xfrm>
            <a:off x="457200" y="2788920"/>
            <a:ext cx="2286000" cy="566928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1" name="Source 3 text"/>
          <p:cNvSpPr txBox="1"/>
          <p:nvPr/>
        </p:nvSpPr>
        <p:spPr>
          <a:xfrm>
            <a:off x="45720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Attack evidence: KEV list + public exploit code</a:t>
            </a:r>
            <a:endParaRPr lang="en-US" sz="1200" dirty="0"/>
          </a:p>
        </p:txBody>
      </p:sp>
      <p:sp>
        <p:nvSpPr>
          <p:cNvPr id="12" name="Source 4"/>
          <p:cNvSpPr/>
          <p:nvPr/>
        </p:nvSpPr>
        <p:spPr>
          <a:xfrm>
            <a:off x="457200" y="3520440"/>
            <a:ext cx="2286000" cy="566928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3" name="Source 4 text"/>
          <p:cNvSpPr txBox="1"/>
          <p:nvPr/>
        </p:nvSpPr>
        <p:spPr>
          <a:xfrm>
            <a:off x="457200" y="352044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EPSS scores (still to download)</a:t>
            </a:r>
            <a:endParaRPr lang="en-US" sz="1200" dirty="0"/>
          </a:p>
        </p:txBody>
      </p:sp>
      <p:sp>
        <p:nvSpPr>
          <p:cNvPr id="14" name="Step 1"/>
          <p:cNvSpPr/>
          <p:nvPr/>
        </p:nvSpPr>
        <p:spPr>
          <a:xfrm>
            <a:off x="3429000" y="1325880"/>
            <a:ext cx="2286000" cy="56692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tep 1 text"/>
          <p:cNvSpPr txBox="1"/>
          <p:nvPr/>
        </p:nvSpPr>
        <p:spPr>
          <a:xfrm>
            <a:off x="3429000" y="132588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Build SBOM with Syft</a:t>
            </a:r>
            <a:endParaRPr lang="en-US" sz="1200" dirty="0"/>
          </a:p>
        </p:txBody>
      </p:sp>
      <p:sp>
        <p:nvSpPr>
          <p:cNvPr id="16" name="Down arrow 1"/>
          <p:cNvSpPr/>
          <p:nvPr/>
        </p:nvSpPr>
        <p:spPr>
          <a:xfrm>
            <a:off x="4572000" y="1892808"/>
            <a:ext cx="0" cy="1645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tep 2"/>
          <p:cNvSpPr/>
          <p:nvPr/>
        </p:nvSpPr>
        <p:spPr>
          <a:xfrm>
            <a:off x="3429000" y="2057400"/>
            <a:ext cx="2286000" cy="56692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Step 2 text"/>
          <p:cNvSpPr txBox="1"/>
          <p:nvPr/>
        </p:nvSpPr>
        <p:spPr>
          <a:xfrm>
            <a:off x="342900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Match versions to advisories</a:t>
            </a:r>
            <a:endParaRPr lang="en-US" sz="1200" dirty="0"/>
          </a:p>
        </p:txBody>
      </p:sp>
      <p:sp>
        <p:nvSpPr>
          <p:cNvPr id="19" name="Down arrow 2"/>
          <p:cNvSpPr/>
          <p:nvPr/>
        </p:nvSpPr>
        <p:spPr>
          <a:xfrm>
            <a:off x="4572000" y="2624328"/>
            <a:ext cx="0" cy="1645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tep 3"/>
          <p:cNvSpPr/>
          <p:nvPr/>
        </p:nvSpPr>
        <p:spPr>
          <a:xfrm>
            <a:off x="3429000" y="2788920"/>
            <a:ext cx="2286000" cy="56692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Step 3 text"/>
          <p:cNvSpPr txBox="1"/>
          <p:nvPr/>
        </p:nvSpPr>
        <p:spPr>
          <a:xfrm>
            <a:off x="342900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Build dependency graph</a:t>
            </a:r>
            <a:endParaRPr lang="en-US" sz="1200" dirty="0"/>
          </a:p>
        </p:txBody>
      </p:sp>
      <p:sp>
        <p:nvSpPr>
          <p:cNvPr id="22" name="Down arrow 3"/>
          <p:cNvSpPr/>
          <p:nvPr/>
        </p:nvSpPr>
        <p:spPr>
          <a:xfrm>
            <a:off x="4572000" y="3355848"/>
            <a:ext cx="0" cy="1645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tep 4"/>
          <p:cNvSpPr/>
          <p:nvPr/>
        </p:nvSpPr>
        <p:spPr>
          <a:xfrm>
            <a:off x="3429000" y="3520440"/>
            <a:ext cx="2286000" cy="56692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tep 4 text"/>
          <p:cNvSpPr txBox="1"/>
          <p:nvPr/>
        </p:nvSpPr>
        <p:spPr>
          <a:xfrm>
            <a:off x="3429000" y="3520440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 Make features and labels</a:t>
            </a:r>
            <a:endParaRPr lang="en-US" sz="1200" dirty="0"/>
          </a:p>
        </p:txBody>
      </p:sp>
      <p:sp>
        <p:nvSpPr>
          <p:cNvPr id="25" name="Out 1"/>
          <p:cNvSpPr/>
          <p:nvPr/>
        </p:nvSpPr>
        <p:spPr>
          <a:xfrm>
            <a:off x="6492240" y="1325880"/>
            <a:ext cx="2194560" cy="86868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Out 1 text"/>
          <p:cNvSpPr txBox="1"/>
          <p:nvPr/>
        </p:nvSpPr>
        <p:spPr>
          <a:xfrm>
            <a:off x="649224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Baselines: CVSS and rule scores (done)</a:t>
            </a:r>
            <a:endParaRPr lang="en-US" sz="1200" dirty="0"/>
          </a:p>
        </p:txBody>
      </p:sp>
      <p:sp>
        <p:nvSpPr>
          <p:cNvPr id="27" name="Out 2"/>
          <p:cNvSpPr/>
          <p:nvPr/>
        </p:nvSpPr>
        <p:spPr>
          <a:xfrm>
            <a:off x="6492240" y="2423160"/>
            <a:ext cx="2194560" cy="7315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28" name="Out 2 text"/>
          <p:cNvSpPr txBox="1"/>
          <p:nvPr/>
        </p:nvSpPr>
        <p:spPr>
          <a:xfrm>
            <a:off x="64922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Learned ranking models (next)</a:t>
            </a:r>
            <a:endParaRPr lang="en-US" sz="1200" dirty="0"/>
          </a:p>
        </p:txBody>
      </p:sp>
      <p:sp>
        <p:nvSpPr>
          <p:cNvPr id="29" name="Out 3"/>
          <p:cNvSpPr/>
          <p:nvPr/>
        </p:nvSpPr>
        <p:spPr>
          <a:xfrm>
            <a:off x="6492240" y="3383280"/>
            <a:ext cx="2194560" cy="8686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30" name="Out 3 text"/>
          <p:cNvSpPr txBox="1"/>
          <p:nvPr/>
        </p:nvSpPr>
        <p:spPr>
          <a:xfrm>
            <a:off x="6492240" y="338328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Advice: upgrade, replace, isolate, monitor or accept (next)</a:t>
            </a:r>
            <a:endParaRPr lang="en-US" sz="1200" dirty="0"/>
          </a:p>
        </p:txBody>
      </p:sp>
      <p:sp>
        <p:nvSpPr>
          <p:cNvPr id="31" name="Arrow in"/>
          <p:cNvSpPr/>
          <p:nvPr/>
        </p:nvSpPr>
        <p:spPr>
          <a:xfrm>
            <a:off x="2788920" y="2651760"/>
            <a:ext cx="594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row out"/>
          <p:cNvSpPr/>
          <p:nvPr/>
        </p:nvSpPr>
        <p:spPr>
          <a:xfrm>
            <a:off x="5760720" y="2651760"/>
            <a:ext cx="685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Terms footnote"/>
          <p:cNvSpPr txBox="1"/>
          <p:nvPr/>
        </p:nvSpPr>
        <p:spPr>
          <a:xfrm>
            <a:off x="54864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Checks: version matcher agrees with npm's own audit (100% recall, 99.5% precision); 13 of 13 leakage checks pass. Dashed = not built yet.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Time-aware design avoids inflated results</a:t>
            </a:r>
            <a:endParaRPr lang="en-US" sz="2800" dirty="0"/>
          </a:p>
        </p:txBody>
      </p:sp>
      <p:sp>
        <p:nvSpPr>
          <p:cNvPr id="3" name="Features block"/>
          <p:cNvSpPr/>
          <p:nvPr/>
        </p:nvSpPr>
        <p:spPr>
          <a:xfrm>
            <a:off x="548640" y="1143000"/>
            <a:ext cx="3291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Features text"/>
          <p:cNvSpPr txBox="1"/>
          <p:nvPr/>
        </p:nvSpPr>
        <p:spPr>
          <a:xfrm>
            <a:off x="548640" y="1143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known on date T</a:t>
            </a:r>
            <a:endParaRPr lang="en-US" sz="2000" dirty="0"/>
          </a:p>
        </p:txBody>
      </p:sp>
      <p:sp>
        <p:nvSpPr>
          <p:cNvPr id="5" name="T block"/>
          <p:cNvSpPr/>
          <p:nvPr/>
        </p:nvSpPr>
        <p:spPr>
          <a:xfrm>
            <a:off x="4023360" y="1143000"/>
            <a:ext cx="109728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 text"/>
          <p:cNvSpPr txBox="1"/>
          <p:nvPr/>
        </p:nvSpPr>
        <p:spPr>
          <a:xfrm>
            <a:off x="4023360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snapshot date</a:t>
            </a:r>
            <a:endParaRPr lang="en-US" sz="2000" dirty="0"/>
          </a:p>
        </p:txBody>
      </p:sp>
      <p:sp>
        <p:nvSpPr>
          <p:cNvPr id="7" name="Label block"/>
          <p:cNvSpPr/>
          <p:nvPr/>
        </p:nvSpPr>
        <p:spPr>
          <a:xfrm>
            <a:off x="5303520" y="1143000"/>
            <a:ext cx="3291840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Label text"/>
          <p:cNvSpPr txBox="1"/>
          <p:nvPr/>
        </p:nvSpPr>
        <p:spPr>
          <a:xfrm>
            <a:off x="5303520" y="1143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Label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what happens in the next 12 months</a:t>
            </a:r>
            <a:endParaRPr lang="en-US" sz="2000" dirty="0"/>
          </a:p>
        </p:txBody>
      </p:sp>
      <p:sp>
        <p:nvSpPr>
          <p:cNvPr id="9" name="Cohort line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Cohorts 2022-2024 are for development; 2025-10-08 is kept back as the final test.</a:t>
            </a:r>
            <a:endParaRPr lang="en-US" sz="1500" dirty="0"/>
          </a:p>
        </p:txBody>
      </p:sp>
      <p:sp>
        <p:nvSpPr>
          <p:cNvPr id="10" name="L1 card"/>
          <p:cNvSpPr/>
          <p:nvPr/>
        </p:nvSpPr>
        <p:spPr>
          <a:xfrm>
            <a:off x="548640" y="2743200"/>
            <a:ext cx="388620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1 number"/>
          <p:cNvSpPr txBox="1"/>
          <p:nvPr/>
        </p:nvSpPr>
        <p:spPr>
          <a:xfrm>
            <a:off x="685800" y="2834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4-11</a:t>
            </a:r>
            <a:endParaRPr lang="en-US" sz="3000" dirty="0"/>
          </a:p>
        </p:txBody>
      </p:sp>
      <p:sp>
        <p:nvSpPr>
          <p:cNvPr id="12" name="L1 text"/>
          <p:cNvSpPr txBox="1"/>
          <p:nvPr/>
        </p:nvSpPr>
        <p:spPr>
          <a:xfrm>
            <a:off x="685800" y="35204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KEV listings a year: the strongest proof, but too few alone</a:t>
            </a:r>
            <a:endParaRPr lang="en-US" sz="1400" dirty="0"/>
          </a:p>
        </p:txBody>
      </p:sp>
      <p:sp>
        <p:nvSpPr>
          <p:cNvPr id="13" name="L2 card"/>
          <p:cNvSpPr/>
          <p:nvPr/>
        </p:nvSpPr>
        <p:spPr>
          <a:xfrm>
            <a:off x="4663440" y="2743200"/>
            <a:ext cx="388620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2 number"/>
          <p:cNvSpPr txBox="1"/>
          <p:nvPr/>
        </p:nvSpPr>
        <p:spPr>
          <a:xfrm>
            <a:off x="4800600" y="2834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42-187</a:t>
            </a:r>
            <a:endParaRPr lang="en-US" sz="3000" dirty="0"/>
          </a:p>
        </p:txBody>
      </p:sp>
      <p:sp>
        <p:nvSpPr>
          <p:cNvPr id="15" name="L2 text"/>
          <p:cNvSpPr txBox="1"/>
          <p:nvPr/>
        </p:nvSpPr>
        <p:spPr>
          <a:xfrm>
            <a:off x="4800600" y="35204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public exploit codes a year (PoC = proof of concept): carries the statistics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Algorithms used</a:t>
            </a:r>
            <a:endParaRPr lang="en-US" sz="2800" dirty="0"/>
          </a:p>
        </p:txBody>
      </p:sp>
      <p:graphicFrame>
        <p:nvGraphicFramePr>
          <p:cNvPr id="8" name="Algorith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plain words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Read libraries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Syft lockfile parser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Reads the exact version of every library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Match flaws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OSV range rules (npm: semantic versioning; PyPI: PEP 440)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Checks if a version sits inside a vulnerable range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Graph features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Breadth-first search; PageRank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How deep a library sits and how many depend on it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Baselines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CVSS ranking; "exploit code first, then CVSS"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Simple scores the models must beat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Measuring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ROC AUC; average precision; top-5% recall; bootstrap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How well risky items are placed first, with error ranges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Planned models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Logistic Regression, Random Forest, gradient boosting, SHAP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Learn from data, then explain each score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rms footnote"/>
          <p:cNvSpPr txBox="1"/>
          <p:nvPr/>
        </p:nvSpPr>
        <p:spPr>
          <a:xfrm>
            <a:off x="54864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OSV = Open Source Vulnerabilities. PyPI = Python Package Index. ROC AUC = area under the receiver operating characteristic curve (1.0 perfect, 0.5 guessing). SHAP = SHapley Additive exPlanations.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Baselines: CVSS alone is a weak ranker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s"/>
          <p:cNvSpPr txBox="1"/>
          <p:nvPr/>
        </p:nvSpPr>
        <p:spPr>
          <a:xfrm>
            <a:off x="5669280" y="12344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CVSS alone finds about 12% of future exploit-code flaws in its top 5%; random finds 5%.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Adding "exploit code already exists" lifts KEV recall to 0.82.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KEV results are uncertain: only 11 positives.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EPSS baseline is built but not yet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 and next steps</a:t>
            </a:r>
            <a:endParaRPr lang="en-US" sz="2800" dirty="0"/>
          </a:p>
        </p:txBody>
      </p:sp>
      <p:sp>
        <p:nvSpPr>
          <p:cNvPr id="3" name="Limits heading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Known limits</a:t>
            </a:r>
            <a:endParaRPr lang="en-US" sz="1800" dirty="0"/>
          </a:p>
        </p:txBody>
      </p:sp>
      <p:sp>
        <p:nvSpPr>
          <p:cNvPr id="4" name="Limits list"/>
          <p:cNvSpPr txBox="1"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Shows exposure, not proof of attack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KEV and exploit code are only proxies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Few positives in the 15 projects: 1 KEV, 12 exploit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EPSS not yet added</a:t>
            </a:r>
            <a:endParaRPr lang="en-US" sz="1500" dirty="0"/>
          </a:p>
        </p:txBody>
      </p:sp>
      <p:sp>
        <p:nvSpPr>
          <p:cNvPr id="5" name="Next heading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6" name="Next list"/>
          <p:cNvSpPr txBox="1"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Download EPSS; re-run baselines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Activity 5: three or more models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Activity 6: rules plus model, action advice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Activities 7-8: evaluation, prototype, paper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6">
  <a:themeElements>
    <a:clrScheme name="Project6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0C7C59"/>
      </a:accent1>
      <a:accent2>
        <a:srgbClr val="D1495B"/>
      </a:accent2>
      <a:accent3>
        <a:srgbClr val="EDAE49"/>
      </a:accent3>
      <a:accent4>
        <a:srgbClr val="00798C"/>
      </a:accent4>
      <a:accent5>
        <a:srgbClr val="6C757D"/>
      </a:accent5>
      <a:accent6>
        <a:srgbClr val="30638E"/>
      </a:accent6>
      <a:hlink>
        <a:srgbClr val="0C7C59"/>
      </a:hlink>
      <a:folHlink>
        <a:srgbClr val="6C757D"/>
      </a:folHlink>
    </a:clrScheme>
    <a:fontScheme name="Project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Software Supply-Chain Security</dc:title>
  <dc:subject>PptxGenJS Presentation</dc:subject>
  <dc:creator>PptxGenJS</dc:creator>
  <cp:lastModifiedBy>PptxGenJS</cp:lastModifiedBy>
  <cp:revision>1</cp:revision>
  <dcterms:created xsi:type="dcterms:W3CDTF">2026-10-25T09:51:06Z</dcterms:created>
  <dcterms:modified xsi:type="dcterms:W3CDTF">2026-10-25T09:51:06Z</dcterms:modified>
</cp:coreProperties>
</file>